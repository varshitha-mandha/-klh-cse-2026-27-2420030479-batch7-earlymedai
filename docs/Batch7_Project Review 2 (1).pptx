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2" r:id="rId2"/>
    <p:sldId id="904" r:id="rId3"/>
    <p:sldId id="258" r:id="rId4"/>
    <p:sldId id="905" r:id="rId5"/>
    <p:sldId id="259" r:id="rId6"/>
    <p:sldId id="913" r:id="rId7"/>
    <p:sldId id="906" r:id="rId8"/>
    <p:sldId id="914" r:id="rId9"/>
    <p:sldId id="260" r:id="rId10"/>
    <p:sldId id="908" r:id="rId11"/>
    <p:sldId id="915" r:id="rId12"/>
    <p:sldId id="911" r:id="rId13"/>
    <p:sldId id="9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03026-0B86-4428-8A62-FD46AA8FD35B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DB99A-B5AD-4B23-A985-63138AF23A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388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01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175E-04D5-845F-8F90-944801EA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9A258-E053-97CE-C450-A06447DB7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54DDA-ABE0-58D7-8DE1-C8EC31EEC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8F304-BDAF-A166-6961-6CBCE70C5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22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0AA4-A60B-EFAA-696D-314CADE9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A62B3-0355-89BE-02CB-62354617D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CB737-2638-9151-4C22-95E23B453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E0B9-88FF-DCC5-FF47-EF93DE590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70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AD76-BABC-5603-96D2-8AF1088DC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A266C-59DB-86CE-0A7F-CDED65AF3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D1E88-2732-944B-FDDF-769347E48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30715-FD9B-F7EE-EFD4-FE7585EA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0E648-82C9-87FA-8905-8E2B55EB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34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22F5-6BDE-98FB-4486-0CACBA12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C7E7-D186-ED68-5791-CAC1140BE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319AF-7F41-9E52-6162-5AF802AF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2D958-4E5F-5812-A436-1175D3BE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57E82-A659-D979-A236-B0540559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87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16B6-485D-5946-CA3D-00C47954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19495-821A-2729-871F-9CF43F5AD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3C2A2-F8EC-6224-DAF4-6194D63D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8EA48-F123-4A2F-BD30-13788419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E4371-20FE-AF9E-6BCC-DB4F3CC3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98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1781-18D7-49D9-00A5-D700359A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E3CAD-F291-ED29-545E-C9E6B0C5D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A8CEF-F423-0B02-EFE9-C3AD24699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E963C-7910-DEBF-8FE3-B25671B8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B5BDF-F329-923E-AC6F-7B30A1BC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40EE2-02BD-3337-7114-6C831162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37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7D4E8-5F82-0047-3584-F878B424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2873E-4F55-9476-ABB3-5816BE576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2BFC3-E93E-466A-08F4-BE561E04E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C5AD7-B879-D02B-7CB6-5E1AD3055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37BDC-2EF6-CCE0-E875-F9120AE98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89EF8B-1FCF-44D1-A6CF-8D2398D3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5E7A0-C97E-54DD-9971-B28E0AAA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A3177-7152-5F30-427E-9926B18B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7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C0DA-E918-1310-4900-19BC6C3F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C634E-177B-62CC-8A8D-8427BB2F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21B0D-5DB8-EA19-CCB6-AFDB1D8E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C2763-1A89-EE8A-BFA5-41EAB6EB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37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B0B3CB-6E4D-1023-735C-62832FF8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C029B-247E-C818-1950-7BADD7BE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7161B-00AC-750F-906B-32D2CA46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71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FF3C-349D-0656-D499-D0ED67CDA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CC04A-3505-B376-7E28-4DF45EAA6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E60D5-03FA-52C3-0726-F5590166C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A2AFD-634B-07A3-53D5-61CF5B54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DE065-3852-86E6-580D-0CE3BD50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38EC4-02CB-746A-353D-21DF10FE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90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F994-2CD7-BBC8-3239-343CB217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194F40-18C7-0453-F35E-552882D6C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0843B-81C9-B806-EF94-71208A4D3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B34E5-F8CE-7A08-DD27-B752BB5C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B0630-2B0F-D302-0B94-198E4F69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AF6E0-E712-DB87-2081-8F578069E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68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8B8D-E8E1-7F15-C350-CCC75EC4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9A248-1C91-86E4-2532-A5B9435B7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5DA8E-DD7B-E957-BAD3-5E5E9DE5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5F0B5-BC47-1F70-E2A6-797E60BD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E8E73-5453-AA65-668C-202E8D7E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81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FFF49-C6F8-C9B6-7769-3C1B3DB57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C48BF-860A-236A-D093-C842E82D1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92D-2CEE-A855-E786-425E7DE3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61E34-92BA-DFBD-F91E-91EBF3C8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1ED10-729A-7617-1AFD-522F489B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2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8E4AD-49E6-2AA1-F900-E93CE135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4FF58-D16C-1B97-167B-C86871F9D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0207E-8A50-D1AD-B198-6CFBCB2BA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68251-1F4C-451B-93AB-D87641126D1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079A3-5F1A-D31C-5956-28AD4D358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9D2CA-B742-A3FE-C1C7-747A3F6FF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03ECC-66C3-40A7-97BF-D58DE1D8E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22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06658"/>
            <a:ext cx="6200774" cy="61555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16th September, 2026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64309"/>
              </p:ext>
            </p:extLst>
          </p:nvPr>
        </p:nvGraphicFramePr>
        <p:xfrm>
          <a:off x="8193271" y="4898509"/>
          <a:ext cx="3702050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algn="l"/>
                      <a:r>
                        <a:rPr lang="en-IN" sz="1600" dirty="0"/>
                        <a:t>E. Supraja         -   2420030357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  <a:p>
                      <a:pPr algn="l"/>
                      <a:r>
                        <a:rPr lang="en-IN" sz="1600" dirty="0"/>
                        <a:t>M. Varshitha    -   2420030479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en-IN" sz="1600" dirty="0"/>
                        <a:t>C. Keerthana    -   2420030581 </a:t>
                      </a:r>
                      <a:endParaRPr lang="en-US" sz="1600" dirty="0">
                        <a:solidFill>
                          <a:srgbClr val="0070C0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/>
                        <a:t>CH. Bhargavi     -   2420030588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939540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ts val="810"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 . KATANGURI SWAPNIKA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University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0625" y="6329436"/>
            <a:ext cx="2743200" cy="365125"/>
          </a:xfrm>
        </p:spPr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648851"/>
            <a:ext cx="10915650" cy="110605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642787"/>
            <a:ext cx="107156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Healthcare Data Analytics for Early Disease Risk Predication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(24DSB3101)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305F-CBEC-B6BA-E15F-73A31DCC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40825E-6B31-CB49-7012-F16D96B42986}"/>
              </a:ext>
            </a:extLst>
          </p:cNvPr>
          <p:cNvSpPr txBox="1"/>
          <p:nvPr/>
        </p:nvSpPr>
        <p:spPr>
          <a:xfrm>
            <a:off x="3048000" y="1322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PROJECT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C682F2-477E-6C05-8B51-5BB65176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 descr="Generated image">
            <a:extLst>
              <a:ext uri="{FF2B5EF4-FFF2-40B4-BE49-F238E27FC236}">
                <a16:creationId xmlns:a16="http://schemas.microsoft.com/office/drawing/2014/main" id="{B556039C-4F7A-4602-D0ED-79F8B5EA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" t="6576" b="46276"/>
          <a:stretch>
            <a:fillRect/>
          </a:stretch>
        </p:blipFill>
        <p:spPr>
          <a:xfrm>
            <a:off x="187451" y="877824"/>
            <a:ext cx="5721097" cy="5440680"/>
          </a:xfrm>
          <a:prstGeom prst="rect">
            <a:avLst/>
          </a:prstGeom>
        </p:spPr>
      </p:pic>
      <p:pic>
        <p:nvPicPr>
          <p:cNvPr id="10" name="Picture 9" descr="Generated image">
            <a:extLst>
              <a:ext uri="{FF2B5EF4-FFF2-40B4-BE49-F238E27FC236}">
                <a16:creationId xmlns:a16="http://schemas.microsoft.com/office/drawing/2014/main" id="{8A093843-2CF0-1EC2-0063-683547F78B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2" t="53402" r="1757"/>
          <a:stretch>
            <a:fillRect/>
          </a:stretch>
        </p:blipFill>
        <p:spPr>
          <a:xfrm>
            <a:off x="5908548" y="877824"/>
            <a:ext cx="6283452" cy="575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3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A583E5-1570-2937-1929-9F4CD2731014}"/>
              </a:ext>
            </a:extLst>
          </p:cNvPr>
          <p:cNvSpPr txBox="1"/>
          <p:nvPr/>
        </p:nvSpPr>
        <p:spPr>
          <a:xfrm>
            <a:off x="804672" y="1380521"/>
            <a:ext cx="113873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u="sng" dirty="0"/>
              <a:t>1. Data Collection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Use the datasets related to diabetes or heart disease.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Select relevant health-related attributes and target disease outcome.</a:t>
            </a:r>
          </a:p>
          <a:p>
            <a:pPr lvl="0" algn="just"/>
            <a:r>
              <a:rPr lang="en-IN" sz="2000" dirty="0"/>
              <a:t> </a:t>
            </a:r>
          </a:p>
          <a:p>
            <a:pPr algn="just"/>
            <a:r>
              <a:rPr lang="en-IN" sz="2000" u="sng" dirty="0"/>
              <a:t>2. Data Preprocessing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Handle missing or inconsistent values.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Remove duplicate/unnecessary records.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Convert categorical variables where required.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Scale numerical features when required. </a:t>
            </a:r>
          </a:p>
          <a:p>
            <a:pPr lvl="0" algn="just"/>
            <a:endParaRPr lang="en-IN" sz="2000" dirty="0"/>
          </a:p>
          <a:p>
            <a:pPr algn="just"/>
            <a:r>
              <a:rPr lang="en-IN" sz="2000" u="sng" dirty="0"/>
              <a:t>3. Exploratory Data Analysis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Analyze distributions of health variables.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Study relationships between risk factors and disease outcomes.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Use charts and statistical measures to identify patterns.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1C9F-EC3C-F45B-6774-7020F03E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13E635-9DDF-C0D0-DF0B-5D9A8D1323D3}"/>
              </a:ext>
            </a:extLst>
          </p:cNvPr>
          <p:cNvSpPr txBox="1"/>
          <p:nvPr/>
        </p:nvSpPr>
        <p:spPr>
          <a:xfrm>
            <a:off x="3048000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96160-C1C0-6259-1801-487E026C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E9DACC-5123-308C-15D2-E9241B7184F3}"/>
              </a:ext>
            </a:extLst>
          </p:cNvPr>
          <p:cNvSpPr txBox="1"/>
          <p:nvPr/>
        </p:nvSpPr>
        <p:spPr>
          <a:xfrm>
            <a:off x="685800" y="945715"/>
            <a:ext cx="113873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u="sng" dirty="0"/>
              <a:t>4. Feature Engineering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Select relevant features.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Transform variables where necessary.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Prepare the final feature set for machine learning. </a:t>
            </a:r>
          </a:p>
          <a:p>
            <a:pPr algn="just"/>
            <a:endParaRPr lang="en-IN" sz="2000" u="sng" dirty="0"/>
          </a:p>
          <a:p>
            <a:pPr algn="just"/>
            <a:r>
              <a:rPr lang="en-IN" sz="2000" u="sng" dirty="0"/>
              <a:t>5. Model Development</a:t>
            </a:r>
          </a:p>
          <a:p>
            <a:pPr algn="just"/>
            <a:r>
              <a:rPr lang="en-IN" sz="2000" dirty="0"/>
              <a:t>Train and compare: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Logistic Regression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Decision Tree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Random Forest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/>
              <a:t>XGBoost</a:t>
            </a:r>
            <a:endParaRPr lang="en-IN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/>
              <a:t>CatBoost</a:t>
            </a:r>
            <a:endParaRPr lang="en-IN" sz="2000" dirty="0"/>
          </a:p>
          <a:p>
            <a:pPr algn="just"/>
            <a:endParaRPr lang="en-IN" sz="2000" dirty="0"/>
          </a:p>
          <a:p>
            <a:pPr algn="just"/>
            <a:r>
              <a:rPr lang="en-IN" sz="2000" u="sng" dirty="0"/>
              <a:t>6. Evaluation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Evaluate models using appropriate classification metrics.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u="sng" dirty="0"/>
              <a:t>7. Dashboard Development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Integrate analytics, visualizations, model results and individual risk prediction into HealthScope.</a:t>
            </a:r>
          </a:p>
        </p:txBody>
      </p:sp>
    </p:spTree>
    <p:extLst>
      <p:ext uri="{BB962C8B-B14F-4D97-AF65-F5344CB8AC3E}">
        <p14:creationId xmlns:p14="http://schemas.microsoft.com/office/powerpoint/2010/main" val="34329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MACHINE LEARNING APPROACH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664A7-C954-DE2B-DB45-498442050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8976"/>
              </p:ext>
            </p:extLst>
          </p:nvPr>
        </p:nvGraphicFramePr>
        <p:xfrm>
          <a:off x="838199" y="1351053"/>
          <a:ext cx="1051560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330149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84736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29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Provides a baseline classification model for disease-risk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031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Uses decision rules based on health features to classify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352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Combines multiple decision trees to improve classification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3001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E1456F-BDD9-D23E-91AD-51879C7244B5}"/>
              </a:ext>
            </a:extLst>
          </p:cNvPr>
          <p:cNvSpPr txBox="1"/>
          <p:nvPr/>
        </p:nvSpPr>
        <p:spPr>
          <a:xfrm>
            <a:off x="838199" y="3774424"/>
            <a:ext cx="101346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Model Evaluation</a:t>
            </a:r>
          </a:p>
          <a:p>
            <a:pPr>
              <a:buNone/>
            </a:pPr>
            <a:r>
              <a:rPr lang="en-IN" dirty="0"/>
              <a:t>The models will be compared using: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Precision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F1-Score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Confusion Matrix </a:t>
            </a:r>
          </a:p>
          <a:p>
            <a:pPr>
              <a:buNone/>
            </a:pPr>
            <a:r>
              <a:rPr lang="en-IN" b="1" dirty="0"/>
              <a:t>Model Selection</a:t>
            </a:r>
          </a:p>
          <a:p>
            <a:pPr>
              <a:buNone/>
            </a:pPr>
            <a:r>
              <a:rPr lang="en-IN" dirty="0"/>
              <a:t>The models will be evaluated on the same test data, and their performance will be compared to determine the most suitable model for the final risk-prediction component.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7644E-41C7-FCCF-06A4-C1564C42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196A6-BDA4-BE76-A4D1-EEAA1E2AAB13}"/>
              </a:ext>
            </a:extLst>
          </p:cNvPr>
          <p:cNvSpPr txBox="1"/>
          <p:nvPr/>
        </p:nvSpPr>
        <p:spPr>
          <a:xfrm>
            <a:off x="1843501" y="405862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DASHBOARD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D1134-656B-5C2D-80E2-B4A7A88C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EC09DA-BD61-05C9-EF81-313115C42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" t="11052" r="-75" b="154"/>
          <a:stretch>
            <a:fillRect/>
          </a:stretch>
        </p:blipFill>
        <p:spPr>
          <a:xfrm>
            <a:off x="225552" y="1157004"/>
            <a:ext cx="11740896" cy="529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5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2777-BB88-D0E3-4EFF-27C14E88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0C2EE4-15A7-1D42-B2C6-7B9C303636CB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TECHNICAL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18665B-7B8F-6695-87BD-784E96E93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DCAD77-D557-3DB6-2AAB-CB844D68E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23485"/>
              </p:ext>
            </p:extLst>
          </p:nvPr>
        </p:nvGraphicFramePr>
        <p:xfrm>
          <a:off x="838200" y="1965960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373324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56575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</a:rPr>
                        <a:t>Area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</a:rPr>
                        <a:t>Technology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32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Programming Language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Python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913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Data Processing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Pandas, NumPy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Data Visualization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Matplotlib, Seaborn / 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</a:rPr>
                        <a:t>Plotly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Machine Learning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Scikit-learn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323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Dashboard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</a:rPr>
                        <a:t>Streamlit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7047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Model Storage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</a:rPr>
                        <a:t>Joblib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 / Pickle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30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Dataset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</a:rPr>
                        <a:t>Public Healthcare Dataset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72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26293-D97E-174E-1F6E-5CB52E5E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E7A3B-3ED4-CBB8-26DE-71EA6AB8BF6E}"/>
              </a:ext>
            </a:extLst>
          </p:cNvPr>
          <p:cNvSpPr txBox="1"/>
          <p:nvPr/>
        </p:nvSpPr>
        <p:spPr>
          <a:xfrm>
            <a:off x="3048000" y="1188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6E28E-A72C-993A-6212-44CB27415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36CB57-EACB-5964-4D1D-C77534061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34" b="2133"/>
          <a:stretch>
            <a:fillRect/>
          </a:stretch>
        </p:blipFill>
        <p:spPr>
          <a:xfrm>
            <a:off x="345957" y="914400"/>
            <a:ext cx="11500086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6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06236" y="107360"/>
            <a:ext cx="7234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PROBLEM GAP IDENTIFICATION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3C4573-F0D5-3A0E-4997-FA361BE37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939476"/>
              </p:ext>
            </p:extLst>
          </p:nvPr>
        </p:nvGraphicFramePr>
        <p:xfrm>
          <a:off x="138684" y="661623"/>
          <a:ext cx="11914631" cy="60890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">
                  <a:extLst>
                    <a:ext uri="{9D8B030D-6E8A-4147-A177-3AD203B41FA5}">
                      <a16:colId xmlns:a16="http://schemas.microsoft.com/office/drawing/2014/main" val="795293518"/>
                    </a:ext>
                  </a:extLst>
                </a:gridCol>
                <a:gridCol w="3118104">
                  <a:extLst>
                    <a:ext uri="{9D8B030D-6E8A-4147-A177-3AD203B41FA5}">
                      <a16:colId xmlns:a16="http://schemas.microsoft.com/office/drawing/2014/main" val="89067889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497874505"/>
                    </a:ext>
                  </a:extLst>
                </a:gridCol>
                <a:gridCol w="4443984">
                  <a:extLst>
                    <a:ext uri="{9D8B030D-6E8A-4147-A177-3AD203B41FA5}">
                      <a16:colId xmlns:a16="http://schemas.microsoft.com/office/drawing/2014/main" val="751882078"/>
                    </a:ext>
                  </a:extLst>
                </a:gridCol>
                <a:gridCol w="3694175">
                  <a:extLst>
                    <a:ext uri="{9D8B030D-6E8A-4147-A177-3AD203B41FA5}">
                      <a16:colId xmlns:a16="http://schemas.microsoft.com/office/drawing/2014/main" val="3506805484"/>
                    </a:ext>
                  </a:extLst>
                </a:gridCol>
              </a:tblGrid>
              <a:tr h="16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No.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Literature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Year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Main Focus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Limitations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3300736154"/>
                  </a:ext>
                </a:extLst>
              </a:tr>
              <a:tr h="679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1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“Why Should I Trust You?”: Explaining the Predictions of Any Classifier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2016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Introduced LIME (Local Interpretable Model-Agnostic Explanations), a model-agnostic method that explains individual predictions of any classifier by approximating it locally with an interpretable model.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Provides only local explanations and does not offer global interpretability or a complete healthcare-specific framework for multi-disease prediction.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3564565444"/>
                  </a:ext>
                </a:extLst>
              </a:tr>
              <a:tr h="679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 Unified Approach to Interpreting Model Predictions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2017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Introduced SHAP (SHapley Additive exPlanations), a unified framework based on game theory to explain the output of any machine learning model by computing feature importance values for individual predictions.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Computationally expensive for large models and datasets; primarily focuses on model interpretation rather than end-to-end healthcare decision-support systems.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1279533712"/>
                  </a:ext>
                </a:extLst>
              </a:tr>
              <a:tr h="624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3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Towards A Rigorous Science of Interpretable Machine Learning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2017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Discusses the need for rigorous definitions, taxonomies, and evaluation frameworks for interpretable machine learning to ensure reliability and consistency in explanations.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Conceptual and methodological in nature; does not provide a practical healthcare prediction and explanation workflow or real-world evaluation.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3258720162"/>
                  </a:ext>
                </a:extLst>
              </a:tr>
              <a:tr h="734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4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Causality and Explainability of Artificial Intelligence in Medicine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2019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Explores explainability in medical AI and introduces the concept of causability, emphasizing the quality and usefulness of explanations for human understanding in medicine.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Challenges remain in distinguishing explainability from causability and in evaluating the quality of explanations in real clinical environments.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3841872559"/>
                  </a:ext>
                </a:extLst>
              </a:tr>
              <a:tr h="514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5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Explainability for Artificial Intelligence in Healthcare: A Multidisciplinary Perspective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2020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Examines explainability from technological, medical, legal, ethical, and patient perspectives for clinical decision-support systems.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Highlights that explainability is not only a technical issue; integration into clinical workflows, trust, ethics, and practical adoption remain challenging.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4290635671"/>
                  </a:ext>
                </a:extLst>
              </a:tr>
              <a:tr h="569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6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A Comprehensive Review of Explainable AI for Disease Diagnosis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2024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Reviews 90 Q1 journal articles on XAI for ML/DL-based disease diagnosis.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Limited standardization of XAI methods and insufficient focus on translating explanations into practical, understandable healthcare decision support.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4118384141"/>
                  </a:ext>
                </a:extLst>
              </a:tr>
              <a:tr h="514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7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The Role of Explainable Artificial Intelligence in Disease Prediction: A Systematic Literature Review and Future Research Directions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2025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Reviews 30 XAI disease-prediction studies and identifies issues such as limited dataset diversity, model complexity, and single-data-type dependence.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Limited dataset diversity, model complexity, and dependence on single data types restrict the generalizability and practical use of XAI models.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3257359327"/>
                  </a:ext>
                </a:extLst>
              </a:tr>
              <a:tr h="5695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/>
                        <a:t>8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The Application of Explainable Artificial Intelligence in the Prediction, Diagnosis, Treatment, and Management of Chronic Diseases: A Systematic Review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2025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Reviews XAI applications across chronic diseases; SHAP and LIME are among the dominant methods.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Limited integration of XAI methods with practical healthcare applications and decision-support systems.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897327419"/>
                  </a:ext>
                </a:extLst>
              </a:tr>
              <a:tr h="514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9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Artificial Intelligence in Predictive Healthcare: A Systematic Review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2025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Reviews AI/ML applications in predictive healthcare and their role in proactive healthcare interventions.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Focuses mainly on predictive performance, with limited emphasis on model interpretability and user-friendly presentation of predictions.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1516189101"/>
                  </a:ext>
                </a:extLst>
              </a:tr>
              <a:tr h="514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10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Presenting Artificial Intelligence Predictions Based on Electronic Medical Records to Clinicians in Hospitals: A Systematic Review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50" dirty="0"/>
                        <a:t>2025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Examines how AI predictions from structured hospital data are presented to clinicians.</a:t>
                      </a:r>
                    </a:p>
                  </a:txBody>
                  <a:tcPr marL="13348" marR="13348" marT="6674" marB="66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Limited practical approaches for integrating explainable predictions into accessible and interactive clinical decision-support interfaces.</a:t>
                      </a:r>
                    </a:p>
                  </a:txBody>
                  <a:tcPr marL="13348" marR="13348" marT="6674" marB="6674" anchor="ctr"/>
                </a:tc>
                <a:extLst>
                  <a:ext uri="{0D108BD9-81ED-4DB2-BD59-A6C34878D82A}">
                    <a16:rowId xmlns:a16="http://schemas.microsoft.com/office/drawing/2014/main" val="1417062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0E9F-A52B-5116-DE10-9DFD834B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19ECEC-CCB8-34E1-28BA-A4FCB109CF1C}"/>
              </a:ext>
            </a:extLst>
          </p:cNvPr>
          <p:cNvSpPr txBox="1"/>
          <p:nvPr/>
        </p:nvSpPr>
        <p:spPr>
          <a:xfrm>
            <a:off x="2513405" y="299384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INNOVATION, CREATIVITY &amp; NOVELTY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30B00-29E5-A13B-770D-2A16C60A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02CAA5-3234-7F95-5998-B7036259D2E7}"/>
              </a:ext>
            </a:extLst>
          </p:cNvPr>
          <p:cNvSpPr txBox="1"/>
          <p:nvPr/>
        </p:nvSpPr>
        <p:spPr>
          <a:xfrm>
            <a:off x="512007" y="1027304"/>
            <a:ext cx="11167986" cy="613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Multi-Disease Risk Prediction Framework</a:t>
            </a:r>
            <a:br>
              <a:rPr lang="en-IN" sz="1600" dirty="0"/>
            </a:br>
            <a:r>
              <a:rPr lang="en-IN" sz="1600" dirty="0"/>
              <a:t>Predicts the risk of multiple diseases—Diabetes, Heart Disease, and Chronic Kidney Disease—using disease-specific healthcare datasets and machine learning models.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Integrated Explainable AI (XAI)</a:t>
            </a:r>
            <a:br>
              <a:rPr lang="en-IN" sz="1600" dirty="0"/>
            </a:br>
            <a:r>
              <a:rPr lang="en-IN" sz="1600" dirty="0"/>
              <a:t>Uses SHAP to explain both overall model </a:t>
            </a:r>
            <a:r>
              <a:rPr lang="en-IN" sz="1600" dirty="0" err="1"/>
              <a:t>behavior</a:t>
            </a:r>
            <a:r>
              <a:rPr lang="en-IN" sz="1600" dirty="0"/>
              <a:t> and individual patient predictions by identifying the healthcare factors contributing to disease risk.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Advanced Comparative ML Evaluation</a:t>
            </a:r>
            <a:br>
              <a:rPr lang="en-IN" sz="1600" dirty="0"/>
            </a:br>
            <a:r>
              <a:rPr lang="en-IN" sz="1600" dirty="0"/>
              <a:t>Compares Logistic Regression, Decision Tree, Random Forest, </a:t>
            </a:r>
            <a:r>
              <a:rPr lang="en-IN" sz="1600" dirty="0" err="1"/>
              <a:t>XGBoost</a:t>
            </a:r>
            <a:r>
              <a:rPr lang="en-IN" sz="1600" dirty="0"/>
              <a:t>, and </a:t>
            </a:r>
            <a:r>
              <a:rPr lang="en-IN" sz="1600" dirty="0" err="1"/>
              <a:t>CatBoost</a:t>
            </a:r>
            <a:r>
              <a:rPr lang="en-IN" sz="1600" dirty="0"/>
              <a:t> using Accuracy, Precision, Recall, F1-Score, ROC-AUC, and Confusion Matrix.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Clinical Risk Intelligence &amp; Decision Support</a:t>
            </a:r>
            <a:br>
              <a:rPr lang="en-IN" sz="1600" dirty="0"/>
            </a:br>
            <a:r>
              <a:rPr lang="en-IN" sz="1600" dirty="0"/>
              <a:t>Converts model predictions into disease-risk probabilities and interpretable risk factors, helping users understand potential health risks and supporting informed clinical assessment.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/>
              <a:t>Unified Healthcare Analytics Dashboard</a:t>
            </a:r>
            <a:br>
              <a:rPr lang="en-IN" sz="1600" dirty="0"/>
            </a:br>
            <a:r>
              <a:rPr lang="en-IN" sz="1600" dirty="0"/>
              <a:t>Provides a single interactive interface for patient risk prediction, disease analytics, model comparison, SHAP explanations, risk-factor visualization, and prediction history.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150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6DCC-7E96-168F-3362-8FE2B16F2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84" y="182245"/>
            <a:ext cx="3608832" cy="75044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  <a:cs typeface="Times New Roman" panose="02020603050405020304" pitchFamily="18" charset="0"/>
              </a:rPr>
              <a:t>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86B87-442B-1167-8639-6C0EDE48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" t="17862" r="1988" b="3232"/>
          <a:stretch>
            <a:fillRect/>
          </a:stretch>
        </p:blipFill>
        <p:spPr>
          <a:xfrm>
            <a:off x="307675" y="1009289"/>
            <a:ext cx="11576650" cy="555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87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E10E-DC94-26D0-884C-4C195A79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19514F-3C13-2743-BCB7-6A1929D63292}"/>
              </a:ext>
            </a:extLst>
          </p:cNvPr>
          <p:cNvSpPr txBox="1"/>
          <p:nvPr/>
        </p:nvSpPr>
        <p:spPr>
          <a:xfrm>
            <a:off x="2112109" y="167010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EXPECTED OUTCOME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1263B-0BFA-8565-93A3-0D6C9E857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178E49-CC2A-E7A6-A6AF-85673239BF83}"/>
              </a:ext>
            </a:extLst>
          </p:cNvPr>
          <p:cNvSpPr txBox="1"/>
          <p:nvPr/>
        </p:nvSpPr>
        <p:spPr>
          <a:xfrm>
            <a:off x="704500" y="813341"/>
            <a:ext cx="10516190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Early Multi-Disease Risk Prediction:</a:t>
            </a:r>
            <a:r>
              <a:rPr lang="en-IN" dirty="0"/>
              <a:t> Predict the risk of Diabetes, Heart Disease, and Chronic Kidney Disease from patient health parameters.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Improved Prediction Performance:</a:t>
            </a:r>
            <a:r>
              <a:rPr lang="en-IN" dirty="0"/>
              <a:t> Identify the most suitable ML model through comparative evaluation of Logistic Regression, Decision Tree, Random Forest, </a:t>
            </a:r>
            <a:r>
              <a:rPr lang="en-IN" dirty="0" err="1"/>
              <a:t>XGBoost</a:t>
            </a:r>
            <a:r>
              <a:rPr lang="en-IN" dirty="0"/>
              <a:t>, and </a:t>
            </a:r>
            <a:r>
              <a:rPr lang="en-IN" dirty="0" err="1"/>
              <a:t>CatBoost</a:t>
            </a:r>
            <a:r>
              <a:rPr lang="en-IN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Explainable Predictions:</a:t>
            </a:r>
            <a:r>
              <a:rPr lang="en-IN" dirty="0"/>
              <a:t> Use SHAP to identify the major healthcare factors influencing each patient's predicted disease risk.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Risk-Based Patient Insights:</a:t>
            </a:r>
            <a:r>
              <a:rPr lang="en-IN" dirty="0"/>
              <a:t> Provide disease-risk probabilities and classify patients according to their predicted risk level for easier interpretation.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Clinical Decision Support:</a:t>
            </a:r>
            <a:r>
              <a:rPr lang="en-IN" dirty="0"/>
              <a:t> Provide interpretable information that can assist healthcare professionals in early risk assessment and further clinical evaluation.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Healthcare Analytics Dashboard:</a:t>
            </a:r>
            <a:r>
              <a:rPr lang="en-IN" dirty="0"/>
              <a:t> Provide an interactive dashboard showing disease trends, risk factors, model performance, predictions, and explanations.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Reliable Model Evaluation:</a:t>
            </a:r>
            <a:r>
              <a:rPr lang="en-IN" dirty="0"/>
              <a:t> Evaluate models using Accuracy, Precision, Recall, F1-Score, ROC-AUC, and Confusion Matrix to assess their performance comprehensively.</a:t>
            </a:r>
          </a:p>
        </p:txBody>
      </p:sp>
    </p:spTree>
    <p:extLst>
      <p:ext uri="{BB962C8B-B14F-4D97-AF65-F5344CB8AC3E}">
        <p14:creationId xmlns:p14="http://schemas.microsoft.com/office/powerpoint/2010/main" val="2251800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A44E5-0129-F984-71CB-8FC8676E4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A19029-CC5F-70BA-6AF9-906C75B1F89D}"/>
              </a:ext>
            </a:extLst>
          </p:cNvPr>
          <p:cNvSpPr txBox="1"/>
          <p:nvPr/>
        </p:nvSpPr>
        <p:spPr>
          <a:xfrm>
            <a:off x="2376245" y="314718"/>
            <a:ext cx="796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/>
              <a:t>CONCLUSION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A700B-FB54-95CB-3524-AD58C0545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ADC9A-F9C0-2B6B-385D-C934D1B41F7F}"/>
              </a:ext>
            </a:extLst>
          </p:cNvPr>
          <p:cNvSpPr txBox="1"/>
          <p:nvPr/>
        </p:nvSpPr>
        <p:spPr>
          <a:xfrm>
            <a:off x="918155" y="1598407"/>
            <a:ext cx="1030253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proposed system provides an intelligent and explainable framework for early multi-disease risk prediction using machine learning.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By combining multiple ML models with SHAP-based explainability and an interactive healthcare dashboard.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system can provide understandable risk insights and support early assessment and clinical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54062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1259</Words>
  <Application>Microsoft Office PowerPoint</Application>
  <PresentationFormat>Widescreen</PresentationFormat>
  <Paragraphs>167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 BHARGAVI</dc:creator>
  <cp:lastModifiedBy>CH BHARGAVI</cp:lastModifiedBy>
  <cp:revision>2</cp:revision>
  <dcterms:created xsi:type="dcterms:W3CDTF">2026-09-19T03:39:24Z</dcterms:created>
  <dcterms:modified xsi:type="dcterms:W3CDTF">2026-09-19T04:42:32Z</dcterms:modified>
</cp:coreProperties>
</file>